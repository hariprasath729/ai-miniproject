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485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33652"/>
            <a:ext cx="12192000" cy="74238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63467" y="160007"/>
            <a:ext cx="5457444" cy="1181112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65137"/>
            <a:ext cx="12192000" cy="64552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716273" y="307670"/>
            <a:ext cx="4759452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6533" y="136474"/>
            <a:ext cx="4776596" cy="83418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53358" y="133299"/>
            <a:ext cx="4783455" cy="840740"/>
          </a:xfrm>
          <a:custGeom>
            <a:avLst/>
            <a:gdLst/>
            <a:ahLst/>
            <a:cxnLst/>
            <a:rect l="l" t="t" r="r" b="b"/>
            <a:pathLst>
              <a:path w="4783455" h="840740">
                <a:moveTo>
                  <a:pt x="0" y="840536"/>
                </a:moveTo>
                <a:lnTo>
                  <a:pt x="4782946" y="840536"/>
                </a:lnTo>
                <a:lnTo>
                  <a:pt x="4782946" y="0"/>
                </a:lnTo>
                <a:lnTo>
                  <a:pt x="0" y="0"/>
                </a:lnTo>
                <a:lnTo>
                  <a:pt x="0" y="840536"/>
                </a:lnTo>
                <a:close/>
              </a:path>
            </a:pathLst>
          </a:custGeom>
          <a:ln w="6350">
            <a:solidFill>
              <a:srgbClr val="EC7C3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333652"/>
            <a:ext cx="12192000" cy="74238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957830" y="-21589"/>
            <a:ext cx="6276339" cy="9642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809750" y="2198877"/>
            <a:ext cx="8216900" cy="28340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916939" y="6464680"/>
            <a:ext cx="687069" cy="1784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146535" y="6464680"/>
            <a:ext cx="166370" cy="1784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dennybritz/reinforcement-learning" TargetMode="External"/><Relationship Id="rId5" Type="http://schemas.openxmlformats.org/officeDocument/2006/relationships/hyperlink" Target="https://github.com/streamlit/streamlit" TargetMode="External"/><Relationship Id="rId4" Type="http://schemas.openxmlformats.org/officeDocument/2006/relationships/hyperlink" Target="https://github.com/python-constraint/python-constrai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193798" y="970610"/>
            <a:ext cx="7289800" cy="26968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735"/>
              </a:lnSpc>
              <a:spcBef>
                <a:spcPts val="100"/>
              </a:spcBef>
            </a:pPr>
            <a:r>
              <a:rPr sz="2400" b="1" spc="-35" dirty="0">
                <a:latin typeface="Times New Roman"/>
                <a:cs typeface="Times New Roman"/>
              </a:rPr>
              <a:t>DEPARTMENT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OF</a:t>
            </a:r>
            <a:endParaRPr sz="2400">
              <a:latin typeface="Times New Roman"/>
              <a:cs typeface="Times New Roman"/>
            </a:endParaRPr>
          </a:p>
          <a:p>
            <a:pPr marL="12700" marR="5080" algn="ctr">
              <a:lnSpc>
                <a:spcPts val="2590"/>
              </a:lnSpc>
              <a:spcBef>
                <a:spcPts val="185"/>
              </a:spcBef>
            </a:pPr>
            <a:r>
              <a:rPr sz="2400" b="1" spc="-30" dirty="0">
                <a:latin typeface="Times New Roman"/>
                <a:cs typeface="Times New Roman"/>
              </a:rPr>
              <a:t>ARTIFICIAL</a:t>
            </a:r>
            <a:r>
              <a:rPr sz="2400" b="1" spc="-90" dirty="0">
                <a:latin typeface="Times New Roman"/>
                <a:cs typeface="Times New Roman"/>
              </a:rPr>
              <a:t> </a:t>
            </a:r>
            <a:r>
              <a:rPr sz="2400" b="1" spc="-20" dirty="0">
                <a:latin typeface="Times New Roman"/>
                <a:cs typeface="Times New Roman"/>
              </a:rPr>
              <a:t>INTELLIGENCE</a:t>
            </a:r>
            <a:r>
              <a:rPr sz="2400" b="1" spc="-9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AND</a:t>
            </a:r>
            <a:r>
              <a:rPr sz="2400" b="1" spc="25" dirty="0">
                <a:latin typeface="Times New Roman"/>
                <a:cs typeface="Times New Roman"/>
              </a:rPr>
              <a:t> </a:t>
            </a:r>
            <a:r>
              <a:rPr sz="2400" b="1" spc="-114" dirty="0">
                <a:latin typeface="Times New Roman"/>
                <a:cs typeface="Times New Roman"/>
              </a:rPr>
              <a:t>DATA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SCIENCE </a:t>
            </a:r>
            <a:r>
              <a:rPr sz="2400" b="1" spc="-20" dirty="0">
                <a:latin typeface="Times New Roman"/>
                <a:cs typeface="Times New Roman"/>
              </a:rPr>
              <a:t>ACADEMIC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YEAR</a:t>
            </a:r>
            <a:r>
              <a:rPr sz="2400" b="1" spc="-1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2025</a:t>
            </a:r>
            <a:r>
              <a:rPr sz="2400" b="1" spc="-2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-</a:t>
            </a:r>
            <a:r>
              <a:rPr sz="2400" b="1" spc="-30" dirty="0">
                <a:latin typeface="Times New Roman"/>
                <a:cs typeface="Times New Roman"/>
              </a:rPr>
              <a:t> </a:t>
            </a:r>
            <a:r>
              <a:rPr sz="2400" b="1" spc="-20" dirty="0">
                <a:latin typeface="Times New Roman"/>
                <a:cs typeface="Times New Roman"/>
              </a:rPr>
              <a:t>2026</a:t>
            </a:r>
            <a:endParaRPr sz="2400">
              <a:latin typeface="Times New Roman"/>
              <a:cs typeface="Times New Roman"/>
            </a:endParaRPr>
          </a:p>
          <a:p>
            <a:pPr marL="1270" algn="ctr">
              <a:lnSpc>
                <a:spcPts val="2410"/>
              </a:lnSpc>
            </a:pPr>
            <a:r>
              <a:rPr sz="2400" b="1" dirty="0">
                <a:latin typeface="Times New Roman"/>
                <a:cs typeface="Times New Roman"/>
              </a:rPr>
              <a:t>SEMESTER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III</a:t>
            </a:r>
            <a:endParaRPr sz="2400">
              <a:latin typeface="Times New Roman"/>
              <a:cs typeface="Times New Roman"/>
            </a:endParaRPr>
          </a:p>
          <a:p>
            <a:pPr marL="2273935" marR="410209" indent="-1856739">
              <a:lnSpc>
                <a:spcPts val="2590"/>
              </a:lnSpc>
              <a:spcBef>
                <a:spcPts val="185"/>
              </a:spcBef>
            </a:pPr>
            <a:r>
              <a:rPr sz="2400" b="1" spc="-30" dirty="0">
                <a:latin typeface="Times New Roman"/>
                <a:cs typeface="Times New Roman"/>
              </a:rPr>
              <a:t>ARTIFICIAL</a:t>
            </a:r>
            <a:r>
              <a:rPr sz="2400" b="1" spc="-12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INTELLIGENCE</a:t>
            </a:r>
            <a:r>
              <a:rPr sz="2400" b="1" spc="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LABORATORY </a:t>
            </a:r>
            <a:r>
              <a:rPr sz="2400" b="1" dirty="0">
                <a:solidFill>
                  <a:srgbClr val="001F5F"/>
                </a:solidFill>
                <a:latin typeface="Times New Roman"/>
                <a:cs typeface="Times New Roman"/>
              </a:rPr>
              <a:t>MINI</a:t>
            </a:r>
            <a:r>
              <a:rPr sz="2400" b="1" spc="-60" dirty="0">
                <a:solidFill>
                  <a:srgbClr val="001F5F"/>
                </a:solidFill>
                <a:latin typeface="Times New Roman"/>
                <a:cs typeface="Times New Roman"/>
              </a:rPr>
              <a:t> </a:t>
            </a:r>
            <a:r>
              <a:rPr sz="2400" b="1" dirty="0">
                <a:solidFill>
                  <a:srgbClr val="001F5F"/>
                </a:solidFill>
                <a:latin typeface="Times New Roman"/>
                <a:cs typeface="Times New Roman"/>
              </a:rPr>
              <a:t>PROJECT</a:t>
            </a:r>
            <a:r>
              <a:rPr sz="2400" b="1" spc="-100" dirty="0">
                <a:solidFill>
                  <a:srgbClr val="001F5F"/>
                </a:solidFill>
                <a:latin typeface="Times New Roman"/>
                <a:cs typeface="Times New Roman"/>
              </a:rPr>
              <a:t> </a:t>
            </a:r>
            <a:r>
              <a:rPr sz="2400" b="1" spc="-10" dirty="0">
                <a:solidFill>
                  <a:srgbClr val="001F5F"/>
                </a:solidFill>
                <a:latin typeface="Times New Roman"/>
                <a:cs typeface="Times New Roman"/>
              </a:rPr>
              <a:t>REVIEW</a:t>
            </a:r>
            <a:endParaRPr sz="2400">
              <a:latin typeface="Times New Roman"/>
              <a:cs typeface="Times New Roman"/>
            </a:endParaRPr>
          </a:p>
          <a:p>
            <a:pPr marL="635" algn="ctr">
              <a:lnSpc>
                <a:spcPct val="100000"/>
              </a:lnSpc>
              <a:spcBef>
                <a:spcPts val="2270"/>
              </a:spcBef>
            </a:pPr>
            <a:r>
              <a:rPr sz="2400" b="1" dirty="0">
                <a:solidFill>
                  <a:srgbClr val="FF0000"/>
                </a:solidFill>
                <a:latin typeface="Times New Roman"/>
                <a:cs typeface="Times New Roman"/>
              </a:rPr>
              <a:t>&lt;TITLE</a:t>
            </a:r>
            <a:r>
              <a:rPr sz="2400" b="1" spc="-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400" b="1" dirty="0">
                <a:solidFill>
                  <a:srgbClr val="FF0000"/>
                </a:solidFill>
                <a:latin typeface="Times New Roman"/>
                <a:cs typeface="Times New Roman"/>
              </a:rPr>
              <a:t>OF</a:t>
            </a:r>
            <a:r>
              <a:rPr sz="2400" b="1" spc="-15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400" b="1" dirty="0">
                <a:solidFill>
                  <a:srgbClr val="FF0000"/>
                </a:solidFill>
                <a:latin typeface="Times New Roman"/>
                <a:cs typeface="Times New Roman"/>
              </a:rPr>
              <a:t>THE </a:t>
            </a: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PROJECT&gt;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1</a:t>
            </a:fld>
            <a:endParaRPr spc="-50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249505"/>
              </p:ext>
            </p:extLst>
          </p:nvPr>
        </p:nvGraphicFramePr>
        <p:xfrm>
          <a:off x="2092451" y="3839590"/>
          <a:ext cx="8393430" cy="245681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67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6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REGISTER</a:t>
                      </a:r>
                      <a:r>
                        <a:rPr sz="1800" b="1" spc="-7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10" dirty="0">
                          <a:latin typeface="Calibri"/>
                          <a:cs typeface="Calibri"/>
                        </a:rPr>
                        <a:t>NUMBER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C7C30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2117240070305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EC7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5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20" dirty="0">
                          <a:latin typeface="Calibri"/>
                          <a:cs typeface="Calibri"/>
                        </a:rPr>
                        <a:t>NAME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8D6CD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US" sz="1800" b="1" spc="-25" dirty="0">
                          <a:latin typeface="Times New Roman"/>
                          <a:cs typeface="Times New Roman"/>
                        </a:rPr>
                        <a:t>Hariprasath M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8D6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5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20" dirty="0">
                          <a:latin typeface="Calibri"/>
                          <a:cs typeface="Calibri"/>
                        </a:rPr>
                        <a:t>YEAR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b="1" spc="-10" dirty="0">
                          <a:latin typeface="Times New Roman"/>
                          <a:cs typeface="Times New Roman"/>
                        </a:rPr>
                        <a:t>2-</a:t>
                      </a:r>
                      <a:r>
                        <a:rPr sz="1800" b="1" dirty="0">
                          <a:latin typeface="Times New Roman"/>
                          <a:cs typeface="Times New Roman"/>
                        </a:rPr>
                        <a:t>YEAR</a:t>
                      </a:r>
                      <a:r>
                        <a:rPr sz="1800" b="1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b="1" dirty="0">
                          <a:latin typeface="Times New Roman"/>
                          <a:cs typeface="Times New Roman"/>
                        </a:rPr>
                        <a:t>(SEMESTER</a:t>
                      </a:r>
                      <a:r>
                        <a:rPr sz="1800" b="1" spc="-20" dirty="0">
                          <a:latin typeface="Times New Roman"/>
                          <a:cs typeface="Times New Roman"/>
                        </a:rPr>
                        <a:t> III)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5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10" dirty="0">
                          <a:latin typeface="Calibri"/>
                          <a:cs typeface="Calibri"/>
                        </a:rPr>
                        <a:t>SECTION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8D6CD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b="1" spc="-10" dirty="0">
                          <a:latin typeface="Times New Roman"/>
                          <a:cs typeface="Times New Roman"/>
                        </a:rPr>
                        <a:t>AI&amp;DS-</a:t>
                      </a:r>
                      <a:r>
                        <a:rPr lang="en-US" sz="1800" b="1" spc="-50" dirty="0">
                          <a:latin typeface="Times New Roman"/>
                          <a:cs typeface="Times New Roman"/>
                        </a:rPr>
                        <a:t>B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8D6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5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5" dirty="0">
                          <a:latin typeface="Calibri"/>
                          <a:cs typeface="Calibri"/>
                        </a:rPr>
                        <a:t>FACULTY</a:t>
                      </a:r>
                      <a:r>
                        <a:rPr sz="1800" b="1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10" dirty="0">
                          <a:latin typeface="Calibri"/>
                          <a:cs typeface="Calibri"/>
                        </a:rPr>
                        <a:t>IN-CHARGE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US" sz="1800" b="1" dirty="0" err="1">
                          <a:latin typeface="Times New Roman"/>
                          <a:cs typeface="Times New Roman"/>
                        </a:rPr>
                        <a:t>Dr.Rubina</a:t>
                      </a:r>
                      <a:r>
                        <a:rPr lang="en-US" sz="1800" b="1" dirty="0">
                          <a:latin typeface="Times New Roman"/>
                          <a:cs typeface="Times New Roman"/>
                        </a:rPr>
                        <a:t> Begam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1012190"/>
            <a:chOff x="0" y="0"/>
            <a:chExt cx="12192000" cy="10121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980"/>
              <a:ext cx="12192000" cy="7453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86328" y="0"/>
              <a:ext cx="5411724" cy="1011936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35445"/>
              <a:ext cx="12192000" cy="645528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93750">
              <a:lnSpc>
                <a:spcPct val="100000"/>
              </a:lnSpc>
              <a:spcBef>
                <a:spcPts val="95"/>
              </a:spcBef>
            </a:pPr>
            <a:r>
              <a:rPr dirty="0"/>
              <a:t>PROBLEM</a:t>
            </a:r>
            <a:r>
              <a:rPr spc="-195" dirty="0"/>
              <a:t> </a:t>
            </a:r>
            <a:r>
              <a:rPr spc="-60" dirty="0"/>
              <a:t>STATEMENT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sp>
        <p:nvSpPr>
          <p:cNvPr id="7" name="object 7"/>
          <p:cNvSpPr txBox="1"/>
          <p:nvPr/>
        </p:nvSpPr>
        <p:spPr>
          <a:xfrm>
            <a:off x="916939" y="1119632"/>
            <a:ext cx="10121900" cy="4544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4615">
              <a:lnSpc>
                <a:spcPts val="2810"/>
              </a:lnSpc>
              <a:spcBef>
                <a:spcPts val="105"/>
              </a:spcBef>
            </a:pPr>
            <a:r>
              <a:rPr sz="2600" b="1" spc="-10" dirty="0">
                <a:latin typeface="Times New Roman"/>
                <a:cs typeface="Times New Roman"/>
              </a:rPr>
              <a:t>Background:</a:t>
            </a:r>
            <a:endParaRPr sz="2600">
              <a:latin typeface="Times New Roman"/>
              <a:cs typeface="Times New Roman"/>
            </a:endParaRPr>
          </a:p>
          <a:p>
            <a:pPr marL="12700" marR="100965">
              <a:lnSpc>
                <a:spcPct val="80000"/>
              </a:lnSpc>
              <a:spcBef>
                <a:spcPts val="310"/>
              </a:spcBef>
            </a:pPr>
            <a:r>
              <a:rPr sz="2600" dirty="0">
                <a:latin typeface="Times New Roman"/>
                <a:cs typeface="Times New Roman"/>
              </a:rPr>
              <a:t>Students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often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struggle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to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create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effective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study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plans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that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balance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available </a:t>
            </a:r>
            <a:r>
              <a:rPr sz="2600" dirty="0">
                <a:latin typeface="Times New Roman"/>
                <a:cs typeface="Times New Roman"/>
              </a:rPr>
              <a:t>time,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subject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difficulty,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and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personal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performance.</a:t>
            </a:r>
            <a:r>
              <a:rPr sz="2600" spc="-1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Traditional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planners</a:t>
            </a:r>
            <a:r>
              <a:rPr sz="2600" spc="-70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are </a:t>
            </a:r>
            <a:r>
              <a:rPr sz="2600" dirty="0">
                <a:latin typeface="Times New Roman"/>
                <a:cs typeface="Times New Roman"/>
              </a:rPr>
              <a:t>static</a:t>
            </a:r>
            <a:r>
              <a:rPr sz="2600" spc="-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and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cannot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adapt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to</a:t>
            </a:r>
            <a:r>
              <a:rPr sz="2600" spc="-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user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behavior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or</a:t>
            </a:r>
            <a:r>
              <a:rPr sz="2600" spc="-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learning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outcomes.</a:t>
            </a:r>
            <a:endParaRPr sz="2600">
              <a:latin typeface="Times New Roman"/>
              <a:cs typeface="Times New Roman"/>
            </a:endParaRPr>
          </a:p>
          <a:p>
            <a:pPr marL="12700">
              <a:lnSpc>
                <a:spcPts val="2810"/>
              </a:lnSpc>
              <a:spcBef>
                <a:spcPts val="370"/>
              </a:spcBef>
            </a:pPr>
            <a:r>
              <a:rPr sz="2600" b="1" dirty="0">
                <a:latin typeface="Times New Roman"/>
                <a:cs typeface="Times New Roman"/>
              </a:rPr>
              <a:t>Problem</a:t>
            </a:r>
            <a:r>
              <a:rPr sz="2600" b="1" spc="-80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Statement:</a:t>
            </a:r>
            <a:endParaRPr sz="2600">
              <a:latin typeface="Times New Roman"/>
              <a:cs typeface="Times New Roman"/>
            </a:endParaRPr>
          </a:p>
          <a:p>
            <a:pPr marL="12700" marR="5080">
              <a:lnSpc>
                <a:spcPct val="80000"/>
              </a:lnSpc>
              <a:spcBef>
                <a:spcPts val="315"/>
              </a:spcBef>
            </a:pPr>
            <a:r>
              <a:rPr sz="2600" spc="-30" dirty="0">
                <a:latin typeface="Times New Roman"/>
                <a:cs typeface="Times New Roman"/>
              </a:rPr>
              <a:t>To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develop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an</a:t>
            </a:r>
            <a:r>
              <a:rPr sz="2600" spc="-1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AI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system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that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intelligently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generates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and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adapts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personalized </a:t>
            </a:r>
            <a:r>
              <a:rPr sz="2600" dirty="0">
                <a:latin typeface="Times New Roman"/>
                <a:cs typeface="Times New Roman"/>
              </a:rPr>
              <a:t>study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schedules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using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reasoning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and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learning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techniques.</a:t>
            </a:r>
            <a:endParaRPr sz="2600">
              <a:latin typeface="Times New Roman"/>
              <a:cs typeface="Times New Roman"/>
            </a:endParaRPr>
          </a:p>
          <a:p>
            <a:pPr marL="12700">
              <a:lnSpc>
                <a:spcPts val="2810"/>
              </a:lnSpc>
              <a:spcBef>
                <a:spcPts val="375"/>
              </a:spcBef>
            </a:pPr>
            <a:r>
              <a:rPr sz="2600" b="1" dirty="0">
                <a:latin typeface="Times New Roman"/>
                <a:cs typeface="Times New Roman"/>
              </a:rPr>
              <a:t>Expected</a:t>
            </a:r>
            <a:r>
              <a:rPr sz="2600" b="1" spc="-4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Outcome:</a:t>
            </a:r>
            <a:endParaRPr sz="2600">
              <a:latin typeface="Times New Roman"/>
              <a:cs typeface="Times New Roman"/>
            </a:endParaRPr>
          </a:p>
          <a:p>
            <a:pPr marL="12700">
              <a:lnSpc>
                <a:spcPts val="2810"/>
              </a:lnSpc>
            </a:pPr>
            <a:r>
              <a:rPr sz="2600" dirty="0">
                <a:latin typeface="Times New Roman"/>
                <a:cs typeface="Times New Roman"/>
              </a:rPr>
              <a:t>An</a:t>
            </a:r>
            <a:r>
              <a:rPr sz="2600" spc="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adaptive,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data-</a:t>
            </a:r>
            <a:r>
              <a:rPr sz="2600" dirty="0">
                <a:latin typeface="Times New Roman"/>
                <a:cs typeface="Times New Roman"/>
              </a:rPr>
              <a:t>driven planner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that:</a:t>
            </a:r>
            <a:endParaRPr sz="26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380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Times New Roman"/>
                <a:cs typeface="Times New Roman"/>
              </a:rPr>
              <a:t>Creates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time-</a:t>
            </a:r>
            <a:r>
              <a:rPr sz="2600" dirty="0">
                <a:latin typeface="Times New Roman"/>
                <a:cs typeface="Times New Roman"/>
              </a:rPr>
              <a:t>efficient,</a:t>
            </a:r>
            <a:r>
              <a:rPr sz="2600" spc="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constraint-</a:t>
            </a:r>
            <a:r>
              <a:rPr sz="2600" dirty="0">
                <a:latin typeface="Times New Roman"/>
                <a:cs typeface="Times New Roman"/>
              </a:rPr>
              <a:t>based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study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plans.</a:t>
            </a:r>
            <a:endParaRPr sz="26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375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Times New Roman"/>
                <a:cs typeface="Times New Roman"/>
              </a:rPr>
              <a:t>Learns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from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user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feedback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using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reinforcement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learning.</a:t>
            </a:r>
            <a:endParaRPr sz="26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375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Times New Roman"/>
                <a:cs typeface="Times New Roman"/>
              </a:rPr>
              <a:t>Continuously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optimizes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scheduling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for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better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learning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efficiency.</a:t>
            </a:r>
            <a:endParaRPr sz="2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1012190"/>
            <a:chOff x="0" y="0"/>
            <a:chExt cx="12192000" cy="10121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980"/>
              <a:ext cx="12192000" cy="7453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21864" y="0"/>
              <a:ext cx="6740652" cy="1011936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35445"/>
              <a:ext cx="12192000" cy="645528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074289" y="-21589"/>
            <a:ext cx="604774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THEORETICAL</a:t>
            </a:r>
            <a:r>
              <a:rPr spc="-130" dirty="0"/>
              <a:t> </a:t>
            </a:r>
            <a:r>
              <a:rPr spc="-25" dirty="0"/>
              <a:t>BACKGROUND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sp>
        <p:nvSpPr>
          <p:cNvPr id="7" name="object 7"/>
          <p:cNvSpPr txBox="1"/>
          <p:nvPr/>
        </p:nvSpPr>
        <p:spPr>
          <a:xfrm>
            <a:off x="916939" y="710968"/>
            <a:ext cx="10144125" cy="489775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240665" algn="l"/>
              </a:tabLst>
            </a:pPr>
            <a:r>
              <a:rPr sz="2800" b="1" dirty="0">
                <a:latin typeface="Times New Roman"/>
                <a:cs typeface="Times New Roman"/>
              </a:rPr>
              <a:t>AI</a:t>
            </a:r>
            <a:r>
              <a:rPr sz="2800" b="1" spc="-6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Concepts</a:t>
            </a:r>
            <a:r>
              <a:rPr sz="2800" b="1" spc="-6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Involved:</a:t>
            </a:r>
            <a:endParaRPr sz="2800">
              <a:latin typeface="Times New Roman"/>
              <a:cs typeface="Times New Roman"/>
            </a:endParaRPr>
          </a:p>
          <a:p>
            <a:pPr marL="239395" marR="5080" indent="-227329">
              <a:lnSpc>
                <a:spcPts val="3030"/>
              </a:lnSpc>
              <a:spcBef>
                <a:spcPts val="1045"/>
              </a:spcBef>
              <a:buFont typeface="Arial"/>
              <a:buChar char="•"/>
              <a:tabLst>
                <a:tab pos="241300" algn="l"/>
              </a:tabLst>
            </a:pPr>
            <a:r>
              <a:rPr sz="2800" b="1" dirty="0">
                <a:latin typeface="Times New Roman"/>
                <a:cs typeface="Times New Roman"/>
              </a:rPr>
              <a:t>Constraint</a:t>
            </a:r>
            <a:r>
              <a:rPr sz="2800" b="1" spc="-6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Satisfaction</a:t>
            </a:r>
            <a:r>
              <a:rPr sz="2800" b="1" spc="-8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Problem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(CSP):</a:t>
            </a:r>
            <a:r>
              <a:rPr sz="2800" b="1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Generates</a:t>
            </a:r>
            <a:r>
              <a:rPr sz="2800" spc="-6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initial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valid 	</a:t>
            </a:r>
            <a:r>
              <a:rPr sz="2800" dirty="0">
                <a:latin typeface="Times New Roman"/>
                <a:cs typeface="Times New Roman"/>
              </a:rPr>
              <a:t>study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plan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by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assigning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subjects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time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slots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under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given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constraints.</a:t>
            </a:r>
            <a:endParaRPr sz="2800">
              <a:latin typeface="Times New Roman"/>
              <a:cs typeface="Times New Roman"/>
            </a:endParaRPr>
          </a:p>
          <a:p>
            <a:pPr marL="240029" marR="1398905" indent="-227965">
              <a:lnSpc>
                <a:spcPts val="3020"/>
              </a:lnSpc>
              <a:spcBef>
                <a:spcPts val="994"/>
              </a:spcBef>
              <a:buFont typeface="Arial"/>
              <a:buChar char="•"/>
              <a:tabLst>
                <a:tab pos="241300" algn="l"/>
              </a:tabLst>
            </a:pPr>
            <a:r>
              <a:rPr sz="2800" b="1" spc="-10" dirty="0">
                <a:latin typeface="Times New Roman"/>
                <a:cs typeface="Times New Roman"/>
              </a:rPr>
              <a:t>Reinforcement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Learning</a:t>
            </a:r>
            <a:r>
              <a:rPr sz="2800" b="1" spc="-70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(Q-</a:t>
            </a:r>
            <a:r>
              <a:rPr sz="2800" b="1" dirty="0">
                <a:latin typeface="Times New Roman"/>
                <a:cs typeface="Times New Roman"/>
              </a:rPr>
              <a:t>learning):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Improves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plan 	</a:t>
            </a:r>
            <a:r>
              <a:rPr sz="2800" dirty="0">
                <a:latin typeface="Times New Roman"/>
                <a:cs typeface="Times New Roman"/>
              </a:rPr>
              <a:t>dynamically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based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on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user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feedback.</a:t>
            </a:r>
            <a:endParaRPr sz="2800">
              <a:latin typeface="Times New Roman"/>
              <a:cs typeface="Times New Roman"/>
            </a:endParaRPr>
          </a:p>
          <a:p>
            <a:pPr marL="240029" indent="-227329">
              <a:lnSpc>
                <a:spcPts val="3195"/>
              </a:lnSpc>
              <a:spcBef>
                <a:spcPts val="620"/>
              </a:spcBef>
              <a:buFont typeface="Arial"/>
              <a:buChar char="•"/>
              <a:tabLst>
                <a:tab pos="240029" algn="l"/>
              </a:tabLst>
            </a:pPr>
            <a:r>
              <a:rPr sz="2800" b="1" dirty="0">
                <a:latin typeface="Times New Roman"/>
                <a:cs typeface="Times New Roman"/>
              </a:rPr>
              <a:t>Justification</a:t>
            </a:r>
            <a:r>
              <a:rPr sz="2800" b="1" spc="-15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for</a:t>
            </a:r>
            <a:r>
              <a:rPr sz="2800" b="1" spc="-21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Algorithms:</a:t>
            </a:r>
            <a:endParaRPr sz="2800">
              <a:latin typeface="Times New Roman"/>
              <a:cs typeface="Times New Roman"/>
            </a:endParaRPr>
          </a:p>
          <a:p>
            <a:pPr marL="241300" marR="800735">
              <a:lnSpc>
                <a:spcPts val="3020"/>
              </a:lnSpc>
              <a:spcBef>
                <a:spcPts val="219"/>
              </a:spcBef>
            </a:pPr>
            <a:r>
              <a:rPr sz="2800" dirty="0">
                <a:latin typeface="Times New Roman"/>
                <a:cs typeface="Times New Roman"/>
              </a:rPr>
              <a:t>CSP</a:t>
            </a:r>
            <a:r>
              <a:rPr sz="2800" spc="-1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ensures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valid,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logical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schedules.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RL</a:t>
            </a:r>
            <a:r>
              <a:rPr sz="2800" spc="-1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enables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adaptive </a:t>
            </a:r>
            <a:r>
              <a:rPr sz="2800" dirty="0">
                <a:latin typeface="Times New Roman"/>
                <a:cs typeface="Times New Roman"/>
              </a:rPr>
              <a:t>improvement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—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together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they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form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hybrid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reasoning-learning model.</a:t>
            </a:r>
            <a:endParaRPr sz="2800">
              <a:latin typeface="Times New Roman"/>
              <a:cs typeface="Times New Roman"/>
            </a:endParaRPr>
          </a:p>
          <a:p>
            <a:pPr marL="227965" marR="4471670" indent="-227965" algn="r">
              <a:lnSpc>
                <a:spcPct val="100000"/>
              </a:lnSpc>
              <a:spcBef>
                <a:spcPts val="635"/>
              </a:spcBef>
              <a:buFont typeface="Arial"/>
              <a:buChar char="•"/>
              <a:tabLst>
                <a:tab pos="227965" algn="l"/>
              </a:tabLst>
            </a:pPr>
            <a:r>
              <a:rPr sz="2800" b="1" dirty="0">
                <a:latin typeface="Times New Roman"/>
                <a:cs typeface="Times New Roman"/>
              </a:rPr>
              <a:t>Formula</a:t>
            </a:r>
            <a:r>
              <a:rPr sz="2800" b="1" spc="-85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(Q-</a:t>
            </a:r>
            <a:r>
              <a:rPr sz="2800" b="1" dirty="0">
                <a:latin typeface="Times New Roman"/>
                <a:cs typeface="Times New Roman"/>
              </a:rPr>
              <a:t>learning</a:t>
            </a:r>
            <a:r>
              <a:rPr sz="2800" b="1" spc="-10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Update</a:t>
            </a:r>
            <a:r>
              <a:rPr sz="2800" b="1" spc="-8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Rule):</a:t>
            </a:r>
            <a:endParaRPr sz="2800">
              <a:latin typeface="Times New Roman"/>
              <a:cs typeface="Times New Roman"/>
            </a:endParaRPr>
          </a:p>
          <a:p>
            <a:pPr marR="4501515" algn="r">
              <a:lnSpc>
                <a:spcPct val="100000"/>
              </a:lnSpc>
              <a:spcBef>
                <a:spcPts val="220"/>
              </a:spcBef>
            </a:pPr>
            <a:r>
              <a:rPr sz="2400" spc="-10" dirty="0">
                <a:latin typeface="Times New Roman"/>
                <a:cs typeface="Times New Roman"/>
              </a:rPr>
              <a:t>Q(s,a)=Q(s,a)+α[r+γmax(Q(s′,a′))−Q(s,a)]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60007"/>
            <a:ext cx="12192000" cy="1181735"/>
            <a:chOff x="0" y="160007"/>
            <a:chExt cx="12192000" cy="11817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6039" y="160007"/>
              <a:ext cx="6972300" cy="118111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65137"/>
              <a:ext cx="12192000" cy="645528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132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5" dirty="0"/>
              <a:t>IMPLEMENTATION</a:t>
            </a:r>
            <a:r>
              <a:rPr spc="-85" dirty="0"/>
              <a:t> </a:t>
            </a:r>
            <a:r>
              <a:rPr dirty="0"/>
              <a:t>AND</a:t>
            </a:r>
            <a:r>
              <a:rPr spc="-85" dirty="0"/>
              <a:t> </a:t>
            </a:r>
            <a:r>
              <a:rPr spc="-20" dirty="0"/>
              <a:t>CODE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6" name="object 6"/>
          <p:cNvSpPr txBox="1"/>
          <p:nvPr/>
        </p:nvSpPr>
        <p:spPr>
          <a:xfrm>
            <a:off x="916939" y="1235202"/>
            <a:ext cx="515112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Link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code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</a:t>
            </a:r>
            <a:r>
              <a:rPr sz="2800" spc="-4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Git-</a:t>
            </a:r>
            <a:r>
              <a:rPr sz="2800" dirty="0">
                <a:latin typeface="Calibri"/>
                <a:cs typeface="Calibri"/>
              </a:rPr>
              <a:t>hub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Repository</a:t>
            </a:r>
            <a:endParaRPr sz="2800">
              <a:latin typeface="Calibri"/>
              <a:cs typeface="Calibri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729659"/>
              </p:ext>
            </p:extLst>
          </p:nvPr>
        </p:nvGraphicFramePr>
        <p:xfrm>
          <a:off x="1847850" y="2198877"/>
          <a:ext cx="8128000" cy="2834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sz="1800" b="1" spc="-20" dirty="0">
                          <a:latin typeface="Calibri"/>
                          <a:cs typeface="Calibri"/>
                        </a:rPr>
                        <a:t>List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sz="1800" b="1" spc="-10" dirty="0">
                          <a:latin typeface="Calibri"/>
                          <a:cs typeface="Calibri"/>
                        </a:rPr>
                        <a:t>Git-</a:t>
                      </a:r>
                      <a:r>
                        <a:rPr sz="1800" b="1" dirty="0">
                          <a:latin typeface="Calibri"/>
                          <a:cs typeface="Calibri"/>
                        </a:rPr>
                        <a:t>hub</a:t>
                      </a:r>
                      <a:r>
                        <a:rPr sz="1800" b="1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dirty="0">
                          <a:latin typeface="Calibri"/>
                          <a:cs typeface="Calibri"/>
                        </a:rPr>
                        <a:t>Repository</a:t>
                      </a:r>
                      <a:r>
                        <a:rPr sz="1800" b="1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20" dirty="0">
                          <a:latin typeface="Calibri"/>
                          <a:cs typeface="Calibri"/>
                        </a:rPr>
                        <a:t>Links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44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Implementation</a:t>
                      </a:r>
                      <a:r>
                        <a:rPr sz="18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of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Code</a:t>
                      </a:r>
                      <a:r>
                        <a:rPr sz="18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Link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 marR="29527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Word</a:t>
                      </a:r>
                      <a:r>
                        <a:rPr sz="1800" spc="-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Document</a:t>
                      </a:r>
                      <a:r>
                        <a:rPr sz="1800" spc="-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Report</a:t>
                      </a:r>
                      <a:r>
                        <a:rPr sz="18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Link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 marR="16256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PPT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Link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 marR="29527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OUTPUT</a:t>
            </a:r>
            <a:r>
              <a:rPr spc="-70" dirty="0"/>
              <a:t> </a:t>
            </a:r>
            <a:r>
              <a:rPr dirty="0"/>
              <a:t>AND</a:t>
            </a:r>
            <a:r>
              <a:rPr spc="-65" dirty="0"/>
              <a:t> </a:t>
            </a:r>
            <a:r>
              <a:rPr spc="-3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248918"/>
            <a:ext cx="523557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Output</a:t>
            </a:r>
            <a:r>
              <a:rPr sz="2600" b="1" spc="-6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Screen</a:t>
            </a:r>
            <a:r>
              <a:rPr sz="2600" b="1" spc="-5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shots</a:t>
            </a:r>
            <a:r>
              <a:rPr sz="2600" b="1" spc="-5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and</a:t>
            </a:r>
            <a:r>
              <a:rPr sz="2600" b="1" spc="-4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explanation</a:t>
            </a:r>
            <a:endParaRPr sz="2600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75729" y="1782762"/>
            <a:ext cx="11840845" cy="4394200"/>
            <a:chOff x="175729" y="1782762"/>
            <a:chExt cx="11840845" cy="43942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5729" y="1878520"/>
              <a:ext cx="6842886" cy="4298442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18654" y="1782762"/>
              <a:ext cx="4997577" cy="4394200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60007"/>
            <a:ext cx="12192000" cy="1181735"/>
            <a:chOff x="0" y="160007"/>
            <a:chExt cx="12192000" cy="11817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63467" y="160007"/>
              <a:ext cx="5457444" cy="118111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65137"/>
              <a:ext cx="12192000" cy="645528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1324" rIns="0" bIns="0" rtlCol="0">
            <a:spAutoFit/>
          </a:bodyPr>
          <a:lstStyle/>
          <a:p>
            <a:pPr marL="770890">
              <a:lnSpc>
                <a:spcPct val="100000"/>
              </a:lnSpc>
              <a:spcBef>
                <a:spcPts val="95"/>
              </a:spcBef>
            </a:pPr>
            <a:r>
              <a:rPr dirty="0"/>
              <a:t>OUTPUT</a:t>
            </a:r>
            <a:r>
              <a:rPr spc="-70" dirty="0"/>
              <a:t> </a:t>
            </a:r>
            <a:r>
              <a:rPr dirty="0"/>
              <a:t>AND</a:t>
            </a:r>
            <a:r>
              <a:rPr spc="-65" dirty="0"/>
              <a:t> </a:t>
            </a:r>
            <a:r>
              <a:rPr spc="-35" dirty="0"/>
              <a:t>RESULTS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  <p:sp>
        <p:nvSpPr>
          <p:cNvPr id="6" name="object 6"/>
          <p:cNvSpPr txBox="1"/>
          <p:nvPr/>
        </p:nvSpPr>
        <p:spPr>
          <a:xfrm>
            <a:off x="916939" y="1172108"/>
            <a:ext cx="6894830" cy="472821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05"/>
              </a:spcBef>
            </a:pPr>
            <a:r>
              <a:rPr sz="2200" dirty="0">
                <a:latin typeface="Times New Roman"/>
                <a:cs typeface="Times New Roman"/>
              </a:rPr>
              <a:t>Results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and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Future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Enhancements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41300" algn="l"/>
              </a:tabLst>
            </a:pPr>
            <a:r>
              <a:rPr sz="2200" b="1" spc="-10" dirty="0">
                <a:latin typeface="Times New Roman"/>
                <a:cs typeface="Times New Roman"/>
              </a:rPr>
              <a:t>Results: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Hybrid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CSP–RL</a:t>
            </a:r>
            <a:r>
              <a:rPr sz="2200" spc="-1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model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successfully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implemented.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241300" algn="l"/>
              </a:tabLst>
            </a:pPr>
            <a:r>
              <a:rPr sz="2200" spc="-10" dirty="0">
                <a:latin typeface="Times New Roman"/>
                <a:cs typeface="Times New Roman"/>
              </a:rPr>
              <a:t>Self-</a:t>
            </a:r>
            <a:r>
              <a:rPr sz="2200" dirty="0">
                <a:latin typeface="Times New Roman"/>
                <a:cs typeface="Times New Roman"/>
              </a:rPr>
              <a:t>adaptive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system</a:t>
            </a:r>
            <a:r>
              <a:rPr sz="2200" spc="-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improves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study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efficiency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with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use.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Streamlit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UI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enables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real-</a:t>
            </a:r>
            <a:r>
              <a:rPr sz="2200" dirty="0">
                <a:latin typeface="Times New Roman"/>
                <a:cs typeface="Times New Roman"/>
              </a:rPr>
              <a:t>time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user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interaction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and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updates.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41300" algn="l"/>
              </a:tabLst>
            </a:pPr>
            <a:r>
              <a:rPr sz="2200" b="1" dirty="0">
                <a:latin typeface="Times New Roman"/>
                <a:cs typeface="Times New Roman"/>
              </a:rPr>
              <a:t>Future</a:t>
            </a:r>
            <a:r>
              <a:rPr sz="2200" b="1" spc="-110" dirty="0">
                <a:latin typeface="Times New Roman"/>
                <a:cs typeface="Times New Roman"/>
              </a:rPr>
              <a:t> </a:t>
            </a:r>
            <a:r>
              <a:rPr sz="2200" b="1" spc="-10" dirty="0">
                <a:latin typeface="Times New Roman"/>
                <a:cs typeface="Times New Roman"/>
              </a:rPr>
              <a:t>Enhancements: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Integration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with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Google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Calendar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&amp;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Notifications.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Add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voice/chatbot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interface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using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NLP.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Use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DQN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for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deep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reinforcement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learning.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Emotion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detection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via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OpenCV.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Cloud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database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for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multi-</a:t>
            </a:r>
            <a:r>
              <a:rPr sz="2200" dirty="0">
                <a:latin typeface="Times New Roman"/>
                <a:cs typeface="Times New Roman"/>
              </a:rPr>
              <a:t>device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access.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Gamification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(badges,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streaks,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points).</a:t>
            </a: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Integration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with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LMS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(e.g.,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Moodle).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60007"/>
            <a:ext cx="12192000" cy="1181735"/>
            <a:chOff x="0" y="160007"/>
            <a:chExt cx="12192000" cy="11817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16552" y="160007"/>
              <a:ext cx="3351276" cy="118111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65137"/>
              <a:ext cx="12192000" cy="645528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1324" rIns="0" bIns="0" rtlCol="0">
            <a:spAutoFit/>
          </a:bodyPr>
          <a:lstStyle/>
          <a:p>
            <a:pPr marL="182372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REFERENCES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spc="-10" dirty="0"/>
              <a:t>11/1/2025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7</a:t>
            </a:fld>
            <a:endParaRPr spc="-50" dirty="0"/>
          </a:p>
        </p:txBody>
      </p:sp>
      <p:sp>
        <p:nvSpPr>
          <p:cNvPr id="6" name="object 6"/>
          <p:cNvSpPr txBox="1"/>
          <p:nvPr/>
        </p:nvSpPr>
        <p:spPr>
          <a:xfrm>
            <a:off x="916939" y="1161136"/>
            <a:ext cx="9439910" cy="472059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</a:pPr>
            <a:r>
              <a:rPr sz="2600" b="1" dirty="0">
                <a:latin typeface="Times New Roman"/>
                <a:cs typeface="Times New Roman"/>
              </a:rPr>
              <a:t>References</a:t>
            </a:r>
            <a:r>
              <a:rPr sz="2600" b="1" spc="-6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(GitHub</a:t>
            </a:r>
            <a:r>
              <a:rPr sz="2600" b="1" spc="-5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+</a:t>
            </a:r>
            <a:r>
              <a:rPr sz="2600" b="1" spc="-3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Libraries)</a:t>
            </a:r>
            <a:endParaRPr sz="2600">
              <a:latin typeface="Times New Roman"/>
              <a:cs typeface="Times New Roman"/>
            </a:endParaRPr>
          </a:p>
          <a:p>
            <a:pPr marL="241300" indent="-228600">
              <a:lnSpc>
                <a:spcPts val="281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sz="2600" b="1" spc="-10" dirty="0">
                <a:latin typeface="Times New Roman"/>
                <a:cs typeface="Times New Roman"/>
              </a:rPr>
              <a:t>python-</a:t>
            </a:r>
            <a:r>
              <a:rPr sz="2600" b="1" dirty="0">
                <a:latin typeface="Times New Roman"/>
                <a:cs typeface="Times New Roman"/>
              </a:rPr>
              <a:t>constraint</a:t>
            </a:r>
            <a:r>
              <a:rPr sz="2600" b="1" spc="-3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Library</a:t>
            </a:r>
            <a:r>
              <a:rPr sz="2600" b="1" spc="-1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(Official</a:t>
            </a:r>
            <a:r>
              <a:rPr sz="2600" b="1" spc="1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Repository)</a:t>
            </a:r>
            <a:endParaRPr sz="2600">
              <a:latin typeface="Times New Roman"/>
              <a:cs typeface="Times New Roman"/>
            </a:endParaRPr>
          </a:p>
          <a:p>
            <a:pPr marL="241300">
              <a:lnSpc>
                <a:spcPts val="2810"/>
              </a:lnSpc>
            </a:pPr>
            <a:r>
              <a:rPr sz="2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4"/>
              </a:rPr>
              <a:t>https://github.com/python-constraint/python-constraint</a:t>
            </a:r>
            <a:endParaRPr sz="2600">
              <a:latin typeface="Times New Roman"/>
              <a:cs typeface="Times New Roman"/>
            </a:endParaRPr>
          </a:p>
          <a:p>
            <a:pPr marL="241300" indent="-228600">
              <a:lnSpc>
                <a:spcPts val="2810"/>
              </a:lnSpc>
              <a:spcBef>
                <a:spcPts val="375"/>
              </a:spcBef>
              <a:buFont typeface="Arial"/>
              <a:buChar char="•"/>
              <a:tabLst>
                <a:tab pos="241300" algn="l"/>
              </a:tabLst>
            </a:pPr>
            <a:r>
              <a:rPr sz="2600" b="1" dirty="0">
                <a:latin typeface="Times New Roman"/>
                <a:cs typeface="Times New Roman"/>
              </a:rPr>
              <a:t>Streamlit</a:t>
            </a:r>
            <a:r>
              <a:rPr sz="2600" b="1" spc="-6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Framework</a:t>
            </a:r>
            <a:r>
              <a:rPr sz="2600" b="1" spc="-7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(Official</a:t>
            </a:r>
            <a:r>
              <a:rPr sz="2600" b="1" spc="-30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Repository)</a:t>
            </a:r>
            <a:endParaRPr sz="2600">
              <a:latin typeface="Times New Roman"/>
              <a:cs typeface="Times New Roman"/>
            </a:endParaRPr>
          </a:p>
          <a:p>
            <a:pPr marL="241300">
              <a:lnSpc>
                <a:spcPts val="2810"/>
              </a:lnSpc>
            </a:pPr>
            <a:r>
              <a:rPr sz="2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5"/>
              </a:rPr>
              <a:t>https://github.com/streamlit/streamlit</a:t>
            </a:r>
            <a:endParaRPr sz="2600">
              <a:latin typeface="Times New Roman"/>
              <a:cs typeface="Times New Roman"/>
            </a:endParaRPr>
          </a:p>
          <a:p>
            <a:pPr marL="241300" indent="-228600">
              <a:lnSpc>
                <a:spcPts val="2810"/>
              </a:lnSpc>
              <a:spcBef>
                <a:spcPts val="370"/>
              </a:spcBef>
              <a:buFont typeface="Arial"/>
              <a:buChar char="•"/>
              <a:tabLst>
                <a:tab pos="241300" algn="l"/>
              </a:tabLst>
            </a:pPr>
            <a:r>
              <a:rPr sz="2600" b="1" dirty="0">
                <a:latin typeface="Times New Roman"/>
                <a:cs typeface="Times New Roman"/>
              </a:rPr>
              <a:t>ennybritz</a:t>
            </a:r>
            <a:r>
              <a:rPr sz="2600" b="1" spc="-3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/</a:t>
            </a:r>
            <a:r>
              <a:rPr sz="2600" b="1" spc="-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reinforcement-</a:t>
            </a:r>
            <a:r>
              <a:rPr sz="2600" b="1" dirty="0">
                <a:latin typeface="Times New Roman"/>
                <a:cs typeface="Times New Roman"/>
              </a:rPr>
              <a:t>learning</a:t>
            </a:r>
            <a:r>
              <a:rPr sz="2600" b="1" spc="-3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(Educational</a:t>
            </a:r>
            <a:r>
              <a:rPr sz="2600" b="1" spc="-3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Repository)</a:t>
            </a:r>
            <a:endParaRPr sz="2600">
              <a:latin typeface="Times New Roman"/>
              <a:cs typeface="Times New Roman"/>
            </a:endParaRPr>
          </a:p>
          <a:p>
            <a:pPr marL="241300">
              <a:lnSpc>
                <a:spcPts val="2810"/>
              </a:lnSpc>
            </a:pPr>
            <a:r>
              <a:rPr sz="2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imes New Roman"/>
                <a:cs typeface="Times New Roman"/>
                <a:hlinkClick r:id="rId6"/>
              </a:rPr>
              <a:t>https://github.com/dennybritz/reinforcement-learning</a:t>
            </a:r>
            <a:endParaRPr sz="2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90"/>
              </a:spcBef>
            </a:pPr>
            <a:r>
              <a:rPr sz="2600" b="1" dirty="0">
                <a:latin typeface="Times New Roman"/>
                <a:cs typeface="Times New Roman"/>
              </a:rPr>
              <a:t>Research</a:t>
            </a:r>
            <a:r>
              <a:rPr sz="2600" b="1" spc="-90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Papers</a:t>
            </a:r>
            <a:endParaRPr sz="2600">
              <a:latin typeface="Times New Roman"/>
              <a:cs typeface="Times New Roman"/>
            </a:endParaRPr>
          </a:p>
          <a:p>
            <a:pPr marL="241300" indent="-228600">
              <a:lnSpc>
                <a:spcPts val="2810"/>
              </a:lnSpc>
              <a:spcBef>
                <a:spcPts val="37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-10" dirty="0">
                <a:latin typeface="Times New Roman"/>
                <a:cs typeface="Times New Roman"/>
              </a:rPr>
              <a:t>Momenikorbekandi,</a:t>
            </a:r>
            <a:r>
              <a:rPr sz="2600" spc="-1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A., &amp;</a:t>
            </a:r>
            <a:r>
              <a:rPr sz="2600" spc="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Fathi,</a:t>
            </a:r>
            <a:r>
              <a:rPr sz="2600" spc="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M.</a:t>
            </a:r>
            <a:r>
              <a:rPr sz="2600" spc="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(2023).</a:t>
            </a:r>
            <a:r>
              <a:rPr sz="2600" spc="-1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“Intelligent</a:t>
            </a:r>
            <a:r>
              <a:rPr sz="2600" b="1" spc="2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Scheduling</a:t>
            </a:r>
            <a:endParaRPr sz="2600">
              <a:latin typeface="Times New Roman"/>
              <a:cs typeface="Times New Roman"/>
            </a:endParaRPr>
          </a:p>
          <a:p>
            <a:pPr marL="241300">
              <a:lnSpc>
                <a:spcPts val="2810"/>
              </a:lnSpc>
            </a:pPr>
            <a:r>
              <a:rPr sz="2600" b="1" dirty="0">
                <a:latin typeface="Times New Roman"/>
                <a:cs typeface="Times New Roman"/>
              </a:rPr>
              <a:t>Based</a:t>
            </a:r>
            <a:r>
              <a:rPr sz="2600" b="1" spc="-4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on</a:t>
            </a:r>
            <a:r>
              <a:rPr sz="2600" b="1" spc="-2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Reinforcement</a:t>
            </a:r>
            <a:r>
              <a:rPr sz="2600" b="1" spc="-6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Learning.</a:t>
            </a:r>
            <a:r>
              <a:rPr sz="2600" spc="-10" dirty="0">
                <a:latin typeface="Times New Roman"/>
                <a:cs typeface="Times New Roman"/>
              </a:rPr>
              <a:t>”</a:t>
            </a:r>
            <a:endParaRPr sz="2600">
              <a:latin typeface="Times New Roman"/>
              <a:cs typeface="Times New Roman"/>
            </a:endParaRPr>
          </a:p>
          <a:p>
            <a:pPr marL="241300" marR="345440" indent="-229235">
              <a:lnSpc>
                <a:spcPts val="2500"/>
              </a:lnSpc>
              <a:spcBef>
                <a:spcPts val="969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Times New Roman"/>
                <a:cs typeface="Times New Roman"/>
              </a:rPr>
              <a:t>Russell,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S.,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&amp;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Norvig,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spc="-145" dirty="0">
                <a:latin typeface="Times New Roman"/>
                <a:cs typeface="Times New Roman"/>
              </a:rPr>
              <a:t>P.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(2021).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b="1" i="1" dirty="0">
                <a:latin typeface="Times New Roman"/>
                <a:cs typeface="Times New Roman"/>
              </a:rPr>
              <a:t>Artificial</a:t>
            </a:r>
            <a:r>
              <a:rPr sz="2600" b="1" i="1" spc="-15" dirty="0">
                <a:latin typeface="Times New Roman"/>
                <a:cs typeface="Times New Roman"/>
              </a:rPr>
              <a:t> </a:t>
            </a:r>
            <a:r>
              <a:rPr sz="2600" b="1" i="1" dirty="0">
                <a:latin typeface="Times New Roman"/>
                <a:cs typeface="Times New Roman"/>
              </a:rPr>
              <a:t>Intelligence:</a:t>
            </a:r>
            <a:r>
              <a:rPr sz="2600" b="1" i="1" spc="-120" dirty="0">
                <a:latin typeface="Times New Roman"/>
                <a:cs typeface="Times New Roman"/>
              </a:rPr>
              <a:t> </a:t>
            </a:r>
            <a:r>
              <a:rPr sz="2600" b="1" i="1" dirty="0">
                <a:latin typeface="Times New Roman"/>
                <a:cs typeface="Times New Roman"/>
              </a:rPr>
              <a:t>A</a:t>
            </a:r>
            <a:r>
              <a:rPr sz="2600" b="1" i="1" spc="-155" dirty="0">
                <a:latin typeface="Times New Roman"/>
                <a:cs typeface="Times New Roman"/>
              </a:rPr>
              <a:t> </a:t>
            </a:r>
            <a:r>
              <a:rPr sz="2600" b="1" i="1" spc="-10" dirty="0">
                <a:latin typeface="Times New Roman"/>
                <a:cs typeface="Times New Roman"/>
              </a:rPr>
              <a:t>Modern </a:t>
            </a:r>
            <a:r>
              <a:rPr sz="2600" b="1" i="1" dirty="0">
                <a:latin typeface="Times New Roman"/>
                <a:cs typeface="Times New Roman"/>
              </a:rPr>
              <a:t>Approach</a:t>
            </a:r>
            <a:r>
              <a:rPr sz="2600" b="1" i="1" spc="-4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(4th</a:t>
            </a:r>
            <a:r>
              <a:rPr sz="2600" b="1" spc="-10" dirty="0">
                <a:latin typeface="Times New Roman"/>
                <a:cs typeface="Times New Roman"/>
              </a:rPr>
              <a:t> Edition).</a:t>
            </a:r>
            <a:endParaRPr sz="2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477</Words>
  <Application>Microsoft Office PowerPoint</Application>
  <PresentationFormat>Widescreen</PresentationFormat>
  <Paragraphs>82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Times New Roman</vt:lpstr>
      <vt:lpstr>Office Theme</vt:lpstr>
      <vt:lpstr>PowerPoint Presentation</vt:lpstr>
      <vt:lpstr>PROBLEM STATEMENT</vt:lpstr>
      <vt:lpstr>THEORETICAL BACKGROUND</vt:lpstr>
      <vt:lpstr>IMPLEMENTATION AND CODE</vt:lpstr>
      <vt:lpstr>OUTPUT AND RESULTS</vt:lpstr>
      <vt:lpstr>OUTPUT AND RESULTS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SANKAR GANESH K</dc:creator>
  <cp:lastModifiedBy>hariprasathmohan729@outlook.com</cp:lastModifiedBy>
  <cp:revision>1</cp:revision>
  <dcterms:created xsi:type="dcterms:W3CDTF">2025-11-02T17:14:41Z</dcterms:created>
  <dcterms:modified xsi:type="dcterms:W3CDTF">2025-11-02T17:16:30Z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2025-11-01T00:00:00Z</vt:filetime>
  </property>
  <property fmtid="{D5CDD505-2E9C-101B-9397-08002B2CF9AE}" pid="3" name="Creator">
    <vt:lpwstr>Microsoft® PowerPoint® 2024</vt:lpwstr>
  </property>
  <property fmtid="{D5CDD505-2E9C-101B-9397-08002B2CF9AE}" pid="4" name="LastSaved">
    <vt:filetime>2025-11-02T00:00:00Z</vt:filetime>
  </property>
  <property fmtid="{D5CDD505-2E9C-101B-9397-08002B2CF9AE}" pid="5" name="Producer">
    <vt:lpwstr>Microsoft® PowerPoint® 2024</vt:lpwstr>
  </property>
</Properties>
</file>